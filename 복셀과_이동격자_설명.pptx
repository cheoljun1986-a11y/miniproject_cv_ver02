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B2233"/>
                </a:solidFill>
                <a:latin typeface="맑은 고딕"/>
              </a:rPr>
              <a:t>하츄핑은 공간을 어떻게 인식하는가</a:t>
            </a:r>
          </a:p>
          <a:p>
            <a:pPr>
              <a:spcAft>
                <a:spcPts val="0"/>
              </a:spcAft>
            </a:pPr>
            <a:r>
              <a:rPr sz="1900" b="0">
                <a:solidFill>
                  <a:srgbClr val="5A6B84"/>
                </a:solidFill>
                <a:latin typeface="맑은 고딕"/>
              </a:rPr>
              <a:t>복셀(5cm)과 이동 격자(20cm) — 크기가 다른 두 격자의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2B5FC4"/>
                </a:solidFill>
                <a:latin typeface="맑은 고딕"/>
              </a:rPr>
              <a:t>핵심 한 줄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2200" b="0">
                <a:solidFill>
                  <a:srgbClr val="1B2233"/>
                </a:solidFill>
                <a:latin typeface="맑은 고딕"/>
              </a:rPr>
              <a:t>복셀은 “여기 물체가 있다”를 기록하고,</a:t>
            </a:r>
          </a:p>
          <a:p>
            <a:pPr>
              <a:lnSpc>
                <a:spcPct val="135000"/>
              </a:lnSpc>
              <a:spcAft>
                <a:spcPts val="1800"/>
              </a:spcAft>
            </a:pPr>
            <a:r>
              <a:rPr sz="2200" b="0">
                <a:solidFill>
                  <a:srgbClr val="1B2233"/>
                </a:solidFill>
                <a:latin typeface="맑은 고딕"/>
              </a:rPr>
              <a:t>이동 격자는 “여기 발을 디딜 수 있다”를 판단한다.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5A6B84"/>
                </a:solidFill>
                <a:latin typeface="맑은 고딕"/>
              </a:rPr>
              <a:t>둘은 목적이 달라 크기도 다르다. 복셀은 세밀해야 하고, 이동 칸은 하츄핑의 몸 크기를 닮아야 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502920" cy="63500"/>
          </a:xfrm>
          <a:prstGeom prst="rect">
            <a:avLst/>
          </a:prstGeom>
          <a:solidFill>
            <a:srgbClr val="D41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157F"/>
                </a:solidFill>
                <a:latin typeface="맑은 고딕"/>
              </a:rPr>
              <a:t>1단계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B2233"/>
                </a:solidFill>
                <a:latin typeface="맑은 고딕"/>
              </a:rPr>
              <a:t>원점이 잡히면 공간이 20cm 격자로 썰린다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AR 세션이 시작되면 그 순간 폰이 있던 자리가 원점이 된다.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그 원점을 기준으로 공간 전체가 20cm 간격으로 나뉜다. 미리 만들어 저장하는 것이 아니라, 좌표를 나누기만 하면 “몇 번 칸”인지 바로 나오는 규칙이다.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5A6B84"/>
                </a:solidFill>
                <a:latin typeface="맑은 고딕"/>
              </a:rPr>
              <a:t>격자는 원점에 묶여 있다. 원점이 어디였느냐에 따라 칸 경계선이 방과 어긋나게 놓이며, 매번 달라진다.</a:t>
            </a:r>
          </a:p>
        </p:txBody>
      </p:sp>
      <p:pic>
        <p:nvPicPr>
          <p:cNvPr id="5" name="Picture 4" descr="fig1_ori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0" y="868680"/>
            <a:ext cx="52120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502920" cy="63500"/>
          </a:xfrm>
          <a:prstGeom prst="rect">
            <a:avLst/>
          </a:prstGeom>
          <a:solidFill>
            <a:srgbClr val="2B5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5FC4"/>
                </a:solidFill>
                <a:latin typeface="맑은 고딕"/>
              </a:rPr>
              <a:t>2단계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B2233"/>
                </a:solidFill>
                <a:latin typeface="맑은 고딕"/>
              </a:rPr>
              <a:t>촬영된 물체는 5cm 복셀로 쌓인다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깊이 카메라가 표면까지의 거리를 재면, 그 지점이 속한 5cm 정육면체가 “찼음”으로 기록된다.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같은 칸이 서로 다른 시점에서 3번 이상 관측되어야 인정한다. 한 번만 찍힌 것은 노이즈일 확률이 높기 때문이다.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5A6B84"/>
                </a:solidFill>
                <a:latin typeface="맑은 고딕"/>
              </a:rPr>
              <a:t>비춘 곳에만 복셀이 생긴다. 즉 “빈 공간”과 “아직 안 본 곳”은 데이터상 구별되지 않는다.</a:t>
            </a:r>
          </a:p>
        </p:txBody>
      </p:sp>
      <p:pic>
        <p:nvPicPr>
          <p:cNvPr id="5" name="Picture 4" descr="fig2_vox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0" y="868680"/>
            <a:ext cx="52120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502920" cy="63500"/>
          </a:xfrm>
          <a:prstGeom prst="rect">
            <a:avLst/>
          </a:prstGeom>
          <a:solidFill>
            <a:srgbClr val="1C8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C8F52"/>
                </a:solidFill>
                <a:latin typeface="맑은 고딕"/>
              </a:rPr>
              <a:t>정리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B2233"/>
                </a:solidFill>
                <a:latin typeface="맑은 고딕"/>
              </a:rPr>
              <a:t>두 격자는 크기도 목적도 다르다</a:t>
            </a:r>
          </a:p>
        </p:txBody>
      </p:sp>
      <p:pic>
        <p:nvPicPr>
          <p:cNvPr id="4" name="Picture 3" descr="fig5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977" y="1965960"/>
            <a:ext cx="6381566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2356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B2233"/>
                </a:solidFill>
                <a:latin typeface="맑은 고딕"/>
              </a:rPr>
              <a:t>복셀은 물체의 모양을 담는 재료이고, 이동 칸은 그 재료를 읽어 “설 수 있는 자리”를 판단한 결과다.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84"/>
                </a:solidFill>
                <a:latin typeface="맑은 고딕"/>
              </a:rPr>
              <a:t>이동 칸은 정육면체가 아니라 바닥 타일이다. 높이는 별도의 10cm 층으로 관리한다.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502920" cy="63500"/>
          </a:xfrm>
          <a:prstGeom prst="rect">
            <a:avLst/>
          </a:prstGeom>
          <a:solidFill>
            <a:srgbClr val="D41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4157F"/>
                </a:solidFill>
                <a:latin typeface="맑은 고딕"/>
              </a:rPr>
              <a:t>하츄핑의 부피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B2233"/>
                </a:solidFill>
                <a:latin typeface="맑은 고딕"/>
              </a:rPr>
              <a:t>몸은 칸보다 크다 — 칸은 발 위치다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하츄핑의 몸은 폭 약 30cm, 높이 50cm다. 20cm 칸 안에 들어가지 않는다.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칸은 몸을 담는 상자가 아니라 발을 딛는 자리다. 사람이 자기보다 좁은 보도블록 위에 서는 것과 같다.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5A6B84"/>
                </a:solidFill>
                <a:latin typeface="맑은 고딕"/>
              </a:rPr>
              <a:t>그래서 20cm를 골랐다. 칸이 더 크면 벽에 깊이 파묻히고, 더 작으면 칸 하나가 비어도 몸이 들어간다는 보장이 없어진다.</a:t>
            </a:r>
          </a:p>
        </p:txBody>
      </p:sp>
      <p:pic>
        <p:nvPicPr>
          <p:cNvPr id="5" name="Picture 4" descr="fig3_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057" y="868680"/>
            <a:ext cx="532920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502920" cy="63500"/>
          </a:xfrm>
          <a:prstGeom prst="rect">
            <a:avLst/>
          </a:prstGeom>
          <a:solidFill>
            <a:srgbClr val="A55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A5510F"/>
                </a:solidFill>
                <a:latin typeface="맑은 고딕"/>
              </a:rPr>
              <a:t>판정 규칙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B2233"/>
                </a:solidFill>
                <a:latin typeface="맑은 고딕"/>
              </a:rPr>
              <a:t>20 × 20 × 50cm 가 비어야 설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4754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어떤 칸의 한 층에 표면이 있고, 그 위로 50cm(몸 높이)가 비어 있으면 그 자리는 “설 수 있음”이 된다.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1B2233"/>
                </a:solidFill>
                <a:latin typeface="맑은 고딕"/>
              </a:rPr>
              <a:t>높이 50cm는 10cm 층 다섯 개다. 공간을 실제로 훑지 않고, 칸마다 압축해 둔 층 정보를 다섯 번 조회한다.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600" b="0">
                <a:solidFill>
                  <a:srgbClr val="5A6B84"/>
                </a:solidFill>
                <a:latin typeface="맑은 고딕"/>
              </a:rPr>
              <a:t>세로(높이)는 검사하지만 가로(폭 30cm)는 검사하지 않는다. 좁은 길을 살리기 위한 선택이며, 대가로 어깨가 벽에 최대 5cm 파묻힐 수 있다.</a:t>
            </a:r>
          </a:p>
        </p:txBody>
      </p:sp>
      <p:pic>
        <p:nvPicPr>
          <p:cNvPr id="5" name="Picture 4" descr="fig4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83470"/>
            <a:ext cx="5806440" cy="47824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