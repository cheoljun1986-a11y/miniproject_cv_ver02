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인사. "만약 하츄핑이 단순히 화면 위에 떠 있는 것이 아니라, 실제 우리 교실의 바닥과 벽을 인식하고 어딘가에 숨어 도망다닌다면 어떨까요?" 로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우리가 무엇을 만들었는지 한 문장으로. 화면에 떠 있는 AR이 아니라 '공간을 이해하는' AR 이라는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뼈대. 세 질문을 또박또박 읽어 청중에게 '앞으로 3파트로 간다'는 지도를 준다. 각 질문이 뒤 원리 슬라이드 1·2·3과 1:1로 대응.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비유: 눈 감고 걸어도 위치를 아는 것. 6DoF = 위치3 + 방향3. 이 계산은 구글 ARCore가 담당하고, 우리는 그 결과(포즈)를 받아 쓴다고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핵심: 사진엔 거리가 없다 → 깊이를 재서 3D로 편다(역투영). 복셀=3D 픽셀 블록. TSDF=여러 번 관측한 표면만 믿고 허공/구멍을 정리. 여기까지가 '방을 3D로 복원'.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영상 → 원인(화면은 그림이라 앞뒤를 모른다) → 수정 영상 순서로. 해결의 핵심은 '깊이로 만든 투명 가림막(occlusion)'. GPU가 픽셀 단위로 가까운 것만 남긴다.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핵심: 복셀 모형만으론 '뭔가 있다'만 안다. 움직이려면 '설 수 있나/갈 수 있나'가 필요 → 20cm 통행 격자. 하츄핑은 초록 칸 위로만 길을 찾아 도망·숨기.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영상 → 원인(복원된 바닥 높이 오차 + 구멍) → 수정 영상. 해결: RANSAC으로 여러 점 중 가장 그럴듯한 바닥 평면 하나를 찾아 높이를 교정하고 구멍을 채움. (최근 커밋 내용)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원리 + 두 번의 수정이 합쳐진 최종 결과. 앞에서 설명한 위치추적·3D복원·이동/숨기가 실제로 어떻게 동작하는지 영상으로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기술(WHAT)이 아니라 이유(WHY)로 마무리. 다음 장(딸이 노는 영상)이 곧 그 대답이라는 흐름으로 자연스럽게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클로징. 딸이 실제로 게임을 즐기는 영상으로 WHY에 답한다. 마지막에 감사 인사.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005840"/>
            <a:ext cx="3291840" cy="3291840"/>
          </a:xfrm>
          <a:prstGeom prst="ellipse">
            <a:avLst/>
          </a:prstGeom>
          <a:solidFill>
            <a:srgbClr val="5A1E48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754880"/>
            <a:ext cx="3108960" cy="3108960"/>
          </a:xfrm>
          <a:prstGeom prst="ellipse">
            <a:avLst/>
          </a:prstGeom>
          <a:solidFill>
            <a:srgbClr val="5A1E48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394960"/>
            <a:ext cx="502920" cy="502920"/>
          </a:xfrm>
          <a:prstGeom prst="ellipse">
            <a:avLst/>
          </a:prstGeom>
          <a:solidFill>
            <a:srgbClr val="FFC64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822960"/>
            <a:ext cx="365760" cy="365760"/>
          </a:xfrm>
          <a:prstGeom prst="ellipse">
            <a:avLst/>
          </a:prstGeom>
          <a:solidFill>
            <a:srgbClr val="E847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C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증강현실(AR) · 컴퓨터비전 미니 프로젝트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6596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 공간에서</a:t>
            </a:r>
            <a:endParaRPr lang="en-US" sz="5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하츄핑 잡기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4160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D4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카메라로 현실 공간을 3D로 복원하고, 그 안에서 하츄핑이 숨고 도망다니는 게임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88920" y="507492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5A1E48"/>
          </a:solidFill>
          <a:ln w="12700">
            <a:solidFill>
              <a:srgbClr val="E847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5074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위치·방향 추적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507492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5A1E48"/>
          </a:solidFill>
          <a:ln w="12700">
            <a:solidFill>
              <a:srgbClr val="E847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5074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🧊 3D 공간 복원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01000" y="507492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5A1E48"/>
          </a:solidFill>
          <a:ln w="12700">
            <a:solidFill>
              <a:srgbClr val="E8478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5074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🏃 이동·숨기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C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사이언티스트 과정 · 하츄핑 AR 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E84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만든 것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위 스티커가 아니라, 진짜 우리 방을 아는 하츄핑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C42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“만약 하츄핑이 단순히 화면 위에 떠 있는 게 아니라,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C42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우리 교실의 바닥과 벽을 인식하고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C42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어딘가에 숨어 도망다닌다면 어떨까요?”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카메라 한 대로 현실 공간을 3D로 복원하고,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공간 안에서 하츄핑이 바닥·벽·가구를 인식해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숨고 도망다니는 ‘AR 하츄핑 잡기 게임’을 만들었습니다.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BE3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5175504"/>
            <a:ext cx="51206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C42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🧒  쉽게 말하면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특별한 장비 없이, 우리가 매일 쓰는 스마트폰 하나로 방 전체를 게임판으로 바꾼 거예요.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1737360"/>
            <a:ext cx="3566160" cy="4480560"/>
          </a:xfrm>
          <a:prstGeom prst="roundRect">
            <a:avLst>
              <a:gd name="adj" fmla="val 8974"/>
            </a:avLst>
          </a:prstGeom>
          <a:solidFill>
            <a:srgbClr val="3A1533"/>
          </a:solidFill>
          <a:ln w="38100">
            <a:solidFill>
              <a:srgbClr val="E847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07808" y="1993392"/>
            <a:ext cx="3163824" cy="3968496"/>
          </a:xfrm>
          <a:prstGeom prst="roundRect">
            <a:avLst>
              <a:gd name="adj" fmla="val 5780"/>
            </a:avLst>
          </a:prstGeom>
          <a:solidFill>
            <a:srgbClr val="241019"/>
          </a:solidFill>
          <a:ln/>
        </p:spPr>
      </p:sp>
      <p:sp>
        <p:nvSpPr>
          <p:cNvPr id="10" name="Shape 8"/>
          <p:cNvSpPr/>
          <p:nvPr/>
        </p:nvSpPr>
        <p:spPr>
          <a:xfrm>
            <a:off x="7607808" y="4846320"/>
            <a:ext cx="3163824" cy="969264"/>
          </a:xfrm>
          <a:prstGeom prst="rect">
            <a:avLst/>
          </a:prstGeom>
          <a:solidFill>
            <a:srgbClr val="3B2030"/>
          </a:solidFill>
          <a:ln/>
        </p:spPr>
      </p:sp>
      <p:sp>
        <p:nvSpPr>
          <p:cNvPr id="11" name="Shape 9"/>
          <p:cNvSpPr/>
          <p:nvPr/>
        </p:nvSpPr>
        <p:spPr>
          <a:xfrm>
            <a:off x="9509760" y="4069080"/>
            <a:ext cx="1188720" cy="868680"/>
          </a:xfrm>
          <a:prstGeom prst="roundRect">
            <a:avLst>
              <a:gd name="adj" fmla="val 6316"/>
            </a:avLst>
          </a:prstGeom>
          <a:solidFill>
            <a:srgbClr val="523046"/>
          </a:solidFill>
          <a:ln/>
        </p:spPr>
      </p:sp>
      <p:sp>
        <p:nvSpPr>
          <p:cNvPr id="12" name="Shape 10"/>
          <p:cNvSpPr/>
          <p:nvPr/>
        </p:nvSpPr>
        <p:spPr>
          <a:xfrm>
            <a:off x="8321040" y="4069080"/>
            <a:ext cx="914400" cy="914400"/>
          </a:xfrm>
          <a:prstGeom prst="ellipse">
            <a:avLst/>
          </a:prstGeom>
          <a:solidFill>
            <a:srgbClr val="E847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22208" y="4297680"/>
            <a:ext cx="146304" cy="146304"/>
          </a:xfrm>
          <a:prstGeom prst="ellipse">
            <a:avLst/>
          </a:prstGeom>
          <a:solidFill>
            <a:srgbClr val="3A1533"/>
          </a:solidFill>
          <a:ln/>
        </p:spPr>
      </p:sp>
      <p:sp>
        <p:nvSpPr>
          <p:cNvPr id="14" name="Shape 12"/>
          <p:cNvSpPr/>
          <p:nvPr/>
        </p:nvSpPr>
        <p:spPr>
          <a:xfrm>
            <a:off x="8887968" y="4297680"/>
            <a:ext cx="146304" cy="146304"/>
          </a:xfrm>
          <a:prstGeom prst="ellipse">
            <a:avLst/>
          </a:prstGeom>
          <a:solidFill>
            <a:srgbClr val="3A15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07808" y="219456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6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하츄핑 발견!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E84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풀어야 했던 문제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하츄핑을 숨기고 도망시키려면 — 3가지를 해결해야 합니다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9584" cy="374904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12700">
            <a:solidFill>
              <a:srgbClr val="F1D5E4"/>
            </a:solidFill>
            <a:prstDash val="solid"/>
          </a:ln>
          <a:effectLst>
            <a:outerShdw sx="100000" sy="100000" kx="0" ky="0" algn="bl" rotWithShape="0" blurRad="101600" dist="38100" dir="5400000">
              <a:srgbClr val="D9AEC4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3529584" cy="914400"/>
          </a:xfrm>
          <a:prstGeom prst="roundRect">
            <a:avLst>
              <a:gd name="adj" fmla="val 14000"/>
            </a:avLst>
          </a:prstGeom>
          <a:solidFill>
            <a:srgbClr val="E8478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560320"/>
            <a:ext cx="3529584" cy="457200"/>
          </a:xfrm>
          <a:prstGeom prst="rect">
            <a:avLst/>
          </a:prstGeom>
          <a:solidFill>
            <a:srgbClr val="E8478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49424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📍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020824" y="2816352"/>
            <a:ext cx="768096" cy="768096"/>
          </a:xfrm>
          <a:prstGeom prst="ellipse">
            <a:avLst/>
          </a:prstGeom>
          <a:solidFill>
            <a:srgbClr val="3A15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20824" y="28163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0332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어디에 있는가?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4572000"/>
            <a:ext cx="2944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44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스마트폰은 현실 공간에서 자기 위치와 방향을 어떻게 알까?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53712" y="2103120"/>
            <a:ext cx="3529584" cy="374904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12700">
            <a:solidFill>
              <a:srgbClr val="F1D5E4"/>
            </a:solidFill>
            <a:prstDash val="solid"/>
          </a:ln>
          <a:effectLst>
            <a:outerShdw sx="100000" sy="100000" kx="0" ky="0" algn="bl" rotWithShape="0" blurRad="101600" dist="38100" dir="5400000">
              <a:srgbClr val="D9AEC4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2103120"/>
            <a:ext cx="3529584" cy="914400"/>
          </a:xfrm>
          <a:prstGeom prst="roundRect">
            <a:avLst>
              <a:gd name="adj" fmla="val 14000"/>
            </a:avLst>
          </a:prstGeom>
          <a:solidFill>
            <a:srgbClr val="9B6FD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53712" y="2560320"/>
            <a:ext cx="3529584" cy="457200"/>
          </a:xfrm>
          <a:prstGeom prst="rect">
            <a:avLst/>
          </a:prstGeom>
          <a:solidFill>
            <a:srgbClr val="9B6FD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53712" y="2249424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🧊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5934456" y="2816352"/>
            <a:ext cx="768096" cy="768096"/>
          </a:xfrm>
          <a:prstGeom prst="ellipse">
            <a:avLst/>
          </a:prstGeom>
          <a:solidFill>
            <a:srgbClr val="3A15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34456" y="28163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736592" y="370332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주변은 어떻게 생겼나?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572000"/>
            <a:ext cx="2944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44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위치를 기준으로 주변 공간의 깊이와 구조를 어떻게 파악할까?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467344" y="2103120"/>
            <a:ext cx="3529584" cy="3749040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12700">
            <a:solidFill>
              <a:srgbClr val="F1D5E4"/>
            </a:solidFill>
            <a:prstDash val="solid"/>
          </a:ln>
          <a:effectLst>
            <a:outerShdw sx="100000" sy="100000" kx="0" ky="0" algn="bl" rotWithShape="0" blurRad="101600" dist="38100" dir="5400000">
              <a:srgbClr val="D9AEC4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67344" y="2103120"/>
            <a:ext cx="3529584" cy="914400"/>
          </a:xfrm>
          <a:prstGeom prst="roundRect">
            <a:avLst>
              <a:gd name="adj" fmla="val 14000"/>
            </a:avLst>
          </a:prstGeom>
          <a:solidFill>
            <a:srgbClr val="2FB98D"/>
          </a:solidFill>
          <a:ln/>
        </p:spPr>
      </p:sp>
      <p:sp>
        <p:nvSpPr>
          <p:cNvPr id="22" name="Shape 20"/>
          <p:cNvSpPr/>
          <p:nvPr/>
        </p:nvSpPr>
        <p:spPr>
          <a:xfrm>
            <a:off x="8467344" y="2560320"/>
            <a:ext cx="3529584" cy="457200"/>
          </a:xfrm>
          <a:prstGeom prst="rect">
            <a:avLst/>
          </a:prstGeom>
          <a:solidFill>
            <a:srgbClr val="2FB98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67344" y="2249424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🏃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848088" y="2816352"/>
            <a:ext cx="768096" cy="768096"/>
          </a:xfrm>
          <a:prstGeom prst="ellipse">
            <a:avLst/>
          </a:prstGeom>
          <a:solidFill>
            <a:srgbClr val="3A153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48088" y="28163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650224" y="370332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행동할까?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759952" y="4572000"/>
            <a:ext cx="29443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44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복원된 공간에서 하츄핑은 어디에 서고, 어디로 숨고 도망갈지 어떻게 정할까?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2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지금부터 이 3가지 문제를 하나씩 풀어가는 과정을 보여드리겠습니다.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E84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 ① · 나는 어디에 있는가?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폰은 스스로 “나 지금 여기, 이쪽 보고 있어”를 압니다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BE3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929384"/>
            <a:ext cx="47548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C42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🧒  쉽게 말하면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눈을 감고 방을 걸어도 몇 걸음 갔는지·어디로 돌았는지 느낌으로 알죠? 폰도 똑같이 ‘카메라(눈)’와 ‘흔들림 센서’로 자기가 움직인 만큼을 계산해요.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👁  카메라 — 주변 물체가 화면에서 얼마나 밀려났는지 보고 ‘내가 이만큼 움직였구나’를 계산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 흔들림 센서(IMU) — ‘내가 이만큼 기울고 돌았구나’를 느낌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 둘을 합치면 → 앞뒤·좌우·위아래 위치 + 고개 돌린 방향 = 6가지 정보(6DoF)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6F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계산되나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F4EAFB"/>
          </a:solidFill>
          <a:ln w="19050">
            <a:solidFill>
              <a:srgbClr val="9B6F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3957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영상  +  흔들림 센서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10528" y="2734056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각도의 2D 화면 + 폰의 움직임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503920" y="3456432"/>
            <a:ext cx="914400" cy="310896"/>
          </a:xfrm>
          <a:prstGeom prst="rightArrow">
            <a:avLst/>
          </a:prstGeom>
          <a:solidFill>
            <a:srgbClr val="9B6FD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388620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9B6F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995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ARCore (구글 AR 엔진)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4242816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계산을 대신 해주는 도구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03920" y="4956048"/>
            <a:ext cx="914400" cy="310896"/>
          </a:xfrm>
          <a:prstGeom prst="rightArrow">
            <a:avLst/>
          </a:prstGeom>
          <a:solidFill>
            <a:srgbClr val="9B6FD4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539496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2FB98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55046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위치 + 방향 (6DoF)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5843016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폰이 방 안에서 자기 좌표를 안다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E84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 ② · 내 주변은 어떻게 생겼나?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방을 여러 번 훑어 3D 모형을 쌓아 올립니다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BE3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929384"/>
            <a:ext cx="47548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C42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🧒  쉽게 말하면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한 장엔 ‘거리’가 없어요. 벽에 붙은 스티커인지 멀리 있는 풍선인지 몰라요. 그래서 폰은 각 점이 ‘얼마나 먼지(깊이)’를 재고, 방향과 거리를 합쳐 3D 위치를 찾아요.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5257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 픽셀(방향)  +  깊이(거리)  =  그 점의 3D 위치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 이 점들을 작은 상자(복셀)에 레고처럼 차곡차곡 쌓기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여러 번 본 곳만 ‘진짜 있다’고 믿어서(TSDF) 헛것을 지움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6F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화면 → 3D 공간 복원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2423160" cy="868680"/>
          </a:xfrm>
          <a:prstGeom prst="roundRect">
            <a:avLst>
              <a:gd name="adj" fmla="val 12632"/>
            </a:avLst>
          </a:prstGeom>
          <a:solidFill>
            <a:srgbClr val="E9F0FF"/>
          </a:solidFill>
          <a:ln w="19050">
            <a:solidFill>
              <a:srgbClr val="5B7F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3957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 = 방향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098280" y="2286000"/>
            <a:ext cx="2423160" cy="868680"/>
          </a:xfrm>
          <a:prstGeom prst="roundRect">
            <a:avLst>
              <a:gd name="adj" fmla="val 12632"/>
            </a:avLst>
          </a:prstGeom>
          <a:solidFill>
            <a:srgbClr val="FDE6DC"/>
          </a:solidFill>
          <a:ln w="19050">
            <a:solidFill>
              <a:srgbClr val="F060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89720" y="23957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31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= 거리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503920" y="3291840"/>
            <a:ext cx="914400" cy="310896"/>
          </a:xfrm>
          <a:prstGeom prst="rightArrow">
            <a:avLst/>
          </a:prstGeom>
          <a:solidFill>
            <a:srgbClr val="9B6FD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3703320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9B6F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813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점 (방 안 어디에)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503920" y="4617720"/>
            <a:ext cx="914400" cy="310896"/>
          </a:xfrm>
          <a:prstGeom prst="rightArrow">
            <a:avLst/>
          </a:prstGeom>
          <a:solidFill>
            <a:srgbClr val="9B6FD4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5029200"/>
            <a:ext cx="2423160" cy="1051560"/>
          </a:xfrm>
          <a:prstGeom prst="roundRect">
            <a:avLst>
              <a:gd name="adj" fmla="val 10435"/>
            </a:avLst>
          </a:prstGeom>
          <a:solidFill>
            <a:srgbClr val="EFE1FA"/>
          </a:solidFill>
          <a:ln w="19050">
            <a:solidFill>
              <a:srgbClr val="9B6F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51389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1F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복셀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5477256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1F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상자에 쌓기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98280" y="5029200"/>
            <a:ext cx="2423160" cy="1051560"/>
          </a:xfrm>
          <a:prstGeom prst="roundRect">
            <a:avLst>
              <a:gd name="adj" fmla="val 10435"/>
            </a:avLst>
          </a:prstGeom>
          <a:solidFill>
            <a:srgbClr val="2FB98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9720" y="51389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TSDF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08008" y="5477256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 지운 3D 모형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F060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있었어요 ①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하츄핑이 내 손·물건을 뚫고 보였습니다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709160" cy="2743200"/>
          </a:xfrm>
          <a:prstGeom prst="roundRect">
            <a:avLst>
              <a:gd name="adj" fmla="val 4667"/>
            </a:avLst>
          </a:prstGeom>
          <a:solidFill>
            <a:srgbClr val="120A10"/>
          </a:solidFill>
          <a:ln w="38100">
            <a:solidFill>
              <a:srgbClr val="F060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47088"/>
            <a:ext cx="4489704" cy="2523744"/>
          </a:xfrm>
          <a:prstGeom prst="roundRect">
            <a:avLst>
              <a:gd name="adj" fmla="val 3623"/>
            </a:avLst>
          </a:prstGeom>
          <a:solidFill>
            <a:srgbClr val="1B0F17"/>
          </a:solidFill>
          <a:ln/>
        </p:spPr>
      </p:sp>
      <p:sp>
        <p:nvSpPr>
          <p:cNvPr id="6" name="Shape 4"/>
          <p:cNvSpPr/>
          <p:nvPr/>
        </p:nvSpPr>
        <p:spPr>
          <a:xfrm>
            <a:off x="2427732" y="2496312"/>
            <a:ext cx="1133856" cy="1133856"/>
          </a:xfrm>
          <a:prstGeom prst="ellipse">
            <a:avLst/>
          </a:prstGeom>
          <a:solidFill>
            <a:srgbClr val="F0603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779227" y="2791115"/>
            <a:ext cx="481889" cy="544251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문제 영상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23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C7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뒤에 있어도 하츄핑이 앞에 그려짐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23560" y="2953512"/>
            <a:ext cx="914400" cy="310896"/>
          </a:xfrm>
          <a:prstGeom prst="rightArrow">
            <a:avLst/>
          </a:prstGeom>
          <a:solidFill>
            <a:srgbClr val="E8478B"/>
          </a:solidFill>
          <a:ln/>
        </p:spPr>
      </p:sp>
      <p:sp>
        <p:nvSpPr>
          <p:cNvPr id="11" name="Shape 9"/>
          <p:cNvSpPr/>
          <p:nvPr/>
        </p:nvSpPr>
        <p:spPr>
          <a:xfrm>
            <a:off x="6812280" y="1737360"/>
            <a:ext cx="4709160" cy="2743200"/>
          </a:xfrm>
          <a:prstGeom prst="roundRect">
            <a:avLst>
              <a:gd name="adj" fmla="val 4667"/>
            </a:avLst>
          </a:prstGeom>
          <a:solidFill>
            <a:srgbClr val="120A10"/>
          </a:solidFill>
          <a:ln w="38100">
            <a:solidFill>
              <a:srgbClr val="2FB9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22008" y="1847088"/>
            <a:ext cx="4489704" cy="2523744"/>
          </a:xfrm>
          <a:prstGeom prst="roundRect">
            <a:avLst>
              <a:gd name="adj" fmla="val 3623"/>
            </a:avLst>
          </a:prstGeom>
          <a:solidFill>
            <a:srgbClr val="1B0F17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9932" y="2496312"/>
            <a:ext cx="1133856" cy="1133856"/>
          </a:xfrm>
          <a:prstGeom prst="ellipse">
            <a:avLst/>
          </a:prstGeom>
          <a:solidFill>
            <a:srgbClr val="2FB98D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8951427" y="2791115"/>
            <a:ext cx="481889" cy="544251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12280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수정 영상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4023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C7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손이 하츄핑을 자연스럽게 가림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DED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020056"/>
            <a:ext cx="49834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060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그랬을까? (원인)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그냥 ‘그림’이라, 손이 하츄핑보다 앞인지 뒤인지 몰라요. 컴퓨터는 둘 중 뭐가 더 가까운지 ‘거리’를 알아야 가려줄 수 있어요.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E4F6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5020056"/>
            <a:ext cx="49377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FB9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고쳤나? (해결)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폰이 잰 깊이(거리)로 현실 물체의 ‘보이지 않는 가림막’을 만들었어요. 하츄핑보다 가까운 손이 있으면 그 부분이 자동으로 가려집니다.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E847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 ③ · 어떻게 행동할까?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보드게임 말처럼, 갈 수 있는 칸 위로만 움직입니다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BE3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929384"/>
            <a:ext cx="47548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C42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🧒  쉽게 말하면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방의 3D 모형이 생겼으니, 하츄핑에게 ‘여기는 바닥, 여기는 책상, 여기는 벽’을 알려줘요. 그래야 설 수 있는 곳으로만 다니고 벽·가구 뒤에 숨을 수 있어요.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  방을 위에서 내려다본 바둑판(20cm 칸)으로 나눔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🟩  각 칸이 ‘설 수 있는 곳(바닥·책상 위)’인지 ‘못 가는 곳(벽·허공)’인지 표시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🏃  설 수 있는 칸만 따라 길을 찾아 도망 · 가구 뒤에 숨기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 플레이어가 가까이 가서 SCAN을 꾹 누르면 잡힘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9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 수 있는 칸(초록)만 이동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37960" y="2148840"/>
            <a:ext cx="512064" cy="512064"/>
          </a:xfrm>
          <a:prstGeom prst="rect">
            <a:avLst/>
          </a:prstGeom>
          <a:solidFill>
            <a:srgbClr val="E6D4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04888" y="2148840"/>
            <a:ext cx="512064" cy="512064"/>
          </a:xfrm>
          <a:prstGeom prst="rect">
            <a:avLst/>
          </a:prstGeom>
          <a:solidFill>
            <a:srgbClr val="E6D4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71816" y="2148840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38744" y="2148840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05672" y="2148840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72600" y="2148840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39528" y="2148840"/>
            <a:ext cx="512064" cy="512064"/>
          </a:xfrm>
          <a:prstGeom prst="rect">
            <a:avLst/>
          </a:prstGeom>
          <a:solidFill>
            <a:srgbClr val="E6D4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06456" y="2148840"/>
            <a:ext cx="512064" cy="512064"/>
          </a:xfrm>
          <a:prstGeom prst="rect">
            <a:avLst/>
          </a:prstGeom>
          <a:solidFill>
            <a:srgbClr val="E6D4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715768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04888" y="2715768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71816" y="2715768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2715768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05672" y="2715768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2715768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39528" y="2715768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06456" y="2715768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282696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04888" y="3282696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71816" y="3282696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38744" y="3282696"/>
            <a:ext cx="512064" cy="512064"/>
          </a:xfrm>
          <a:prstGeom prst="rect">
            <a:avLst/>
          </a:prstGeom>
          <a:solidFill>
            <a:srgbClr val="E6D4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05672" y="3282696"/>
            <a:ext cx="512064" cy="512064"/>
          </a:xfrm>
          <a:prstGeom prst="rect">
            <a:avLst/>
          </a:prstGeom>
          <a:solidFill>
            <a:srgbClr val="E6D4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72600" y="3282696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39528" y="3282696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06456" y="3282696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3849624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04888" y="3849624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71816" y="3849624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38744" y="3849624"/>
            <a:ext cx="512064" cy="512064"/>
          </a:xfrm>
          <a:prstGeom prst="rect">
            <a:avLst/>
          </a:prstGeom>
          <a:solidFill>
            <a:srgbClr val="E6D4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05672" y="3849624"/>
            <a:ext cx="512064" cy="512064"/>
          </a:xfrm>
          <a:prstGeom prst="rect">
            <a:avLst/>
          </a:prstGeom>
          <a:solidFill>
            <a:srgbClr val="E6D4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72600" y="3849624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39528" y="3849624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506456" y="3849624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4416552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04888" y="4416552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71816" y="4416552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38744" y="4416552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05672" y="4416552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72600" y="4416552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39528" y="4416552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06456" y="4416552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37960" y="4983480"/>
            <a:ext cx="512064" cy="512064"/>
          </a:xfrm>
          <a:prstGeom prst="rect">
            <a:avLst/>
          </a:prstGeom>
          <a:solidFill>
            <a:srgbClr val="E6D4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04888" y="4983480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71816" y="4983480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38744" y="4983480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05672" y="4983480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372600" y="4983480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39528" y="4983480"/>
            <a:ext cx="512064" cy="512064"/>
          </a:xfrm>
          <a:prstGeom prst="rect">
            <a:avLst/>
          </a:prstGeom>
          <a:solidFill>
            <a:srgbClr val="BFEB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06456" y="4983480"/>
            <a:ext cx="512064" cy="512064"/>
          </a:xfrm>
          <a:prstGeom prst="rect">
            <a:avLst/>
          </a:prstGeom>
          <a:solidFill>
            <a:srgbClr val="E6D4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42048" y="4507992"/>
            <a:ext cx="384048" cy="384048"/>
          </a:xfrm>
          <a:prstGeom prst="ellipse">
            <a:avLst/>
          </a:prstGeom>
          <a:solidFill>
            <a:srgbClr val="E847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509760" y="2807208"/>
            <a:ext cx="384048" cy="384048"/>
          </a:xfrm>
          <a:prstGeom prst="ellipse">
            <a:avLst/>
          </a:prstGeom>
          <a:solidFill>
            <a:srgbClr val="FFC6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923837" y="4919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2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하츄핑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9191549" y="3218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A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6400800" y="5687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45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🟩 설 수 있는 칸    ⬜ 못 가는 곳(벽·가구·허공)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F060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있었어요 ②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7498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하츄핑이 마룻바닥 아래로 가라앉았습니다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709160" cy="2743200"/>
          </a:xfrm>
          <a:prstGeom prst="roundRect">
            <a:avLst>
              <a:gd name="adj" fmla="val 4667"/>
            </a:avLst>
          </a:prstGeom>
          <a:solidFill>
            <a:srgbClr val="120A10"/>
          </a:solidFill>
          <a:ln w="38100">
            <a:solidFill>
              <a:srgbClr val="F060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47088"/>
            <a:ext cx="4489704" cy="2523744"/>
          </a:xfrm>
          <a:prstGeom prst="roundRect">
            <a:avLst>
              <a:gd name="adj" fmla="val 3623"/>
            </a:avLst>
          </a:prstGeom>
          <a:solidFill>
            <a:srgbClr val="1B0F17"/>
          </a:solidFill>
          <a:ln/>
        </p:spPr>
      </p:sp>
      <p:sp>
        <p:nvSpPr>
          <p:cNvPr id="6" name="Shape 4"/>
          <p:cNvSpPr/>
          <p:nvPr/>
        </p:nvSpPr>
        <p:spPr>
          <a:xfrm>
            <a:off x="2427732" y="2496312"/>
            <a:ext cx="1133856" cy="1133856"/>
          </a:xfrm>
          <a:prstGeom prst="ellipse">
            <a:avLst/>
          </a:prstGeom>
          <a:solidFill>
            <a:srgbClr val="F0603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779227" y="2791115"/>
            <a:ext cx="481889" cy="544251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문제 영상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23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C7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발만 보이거나 바닥 밑으로 사라짐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23560" y="2953512"/>
            <a:ext cx="914400" cy="310896"/>
          </a:xfrm>
          <a:prstGeom prst="rightArrow">
            <a:avLst/>
          </a:prstGeom>
          <a:solidFill>
            <a:srgbClr val="E8478B"/>
          </a:solidFill>
          <a:ln/>
        </p:spPr>
      </p:sp>
      <p:sp>
        <p:nvSpPr>
          <p:cNvPr id="11" name="Shape 9"/>
          <p:cNvSpPr/>
          <p:nvPr/>
        </p:nvSpPr>
        <p:spPr>
          <a:xfrm>
            <a:off x="6812280" y="1737360"/>
            <a:ext cx="4709160" cy="2743200"/>
          </a:xfrm>
          <a:prstGeom prst="roundRect">
            <a:avLst>
              <a:gd name="adj" fmla="val 4667"/>
            </a:avLst>
          </a:prstGeom>
          <a:solidFill>
            <a:srgbClr val="120A10"/>
          </a:solidFill>
          <a:ln w="38100">
            <a:solidFill>
              <a:srgbClr val="2FB9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22008" y="1847088"/>
            <a:ext cx="4489704" cy="2523744"/>
          </a:xfrm>
          <a:prstGeom prst="roundRect">
            <a:avLst>
              <a:gd name="adj" fmla="val 3623"/>
            </a:avLst>
          </a:prstGeom>
          <a:solidFill>
            <a:srgbClr val="1B0F17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9932" y="2496312"/>
            <a:ext cx="1133856" cy="1133856"/>
          </a:xfrm>
          <a:prstGeom prst="ellipse">
            <a:avLst/>
          </a:prstGeom>
          <a:solidFill>
            <a:srgbClr val="2FB98D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8951427" y="2791115"/>
            <a:ext cx="481889" cy="544251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12280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수정 영상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40233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C7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바닥 위에 똑바로 서 있음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DED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020056"/>
            <a:ext cx="49834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060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그랬을까? (원인)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폰이 만든 3D 바닥 높이가 실제와 살짝 달랐어요. 그 잘못된 바닥에 하츄핑을 세우니 진짜 바닥 아래로 내려갔고, 성기게 찍힌 바닥엔 구멍도 있었어요.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E4F6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5020056"/>
            <a:ext cx="493776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FB9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고쳤나? (해결)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1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 점들을 모아 ‘진짜 평평한 바닥 하나’를 수학으로 찾아내(RANSAC) 그 높이에 하츄핑을 세우고, 성긴 바닥의 구멍도 메웠습니다.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108960" cy="3108960"/>
          </a:xfrm>
          <a:prstGeom prst="ellipse">
            <a:avLst/>
          </a:prstGeom>
          <a:solidFill>
            <a:srgbClr val="5A1E4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029200"/>
            <a:ext cx="2743200" cy="2743200"/>
          </a:xfrm>
          <a:prstGeom prst="ellipse">
            <a:avLst/>
          </a:prstGeom>
          <a:solidFill>
            <a:srgbClr val="5A1E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C6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93268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 공간을 인식하고 도망다니는 하츄핑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514600" y="1920240"/>
            <a:ext cx="7132320" cy="3977640"/>
          </a:xfrm>
          <a:prstGeom prst="roundRect">
            <a:avLst>
              <a:gd name="adj" fmla="val 3218"/>
            </a:avLst>
          </a:prstGeom>
          <a:solidFill>
            <a:srgbClr val="120A10"/>
          </a:solidFill>
          <a:ln w="38100">
            <a:solidFill>
              <a:srgbClr val="E847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24328" y="2029968"/>
            <a:ext cx="6912864" cy="3758184"/>
          </a:xfrm>
          <a:prstGeom prst="roundRect">
            <a:avLst>
              <a:gd name="adj" fmla="val 2433"/>
            </a:avLst>
          </a:prstGeom>
          <a:solidFill>
            <a:srgbClr val="1B0F17"/>
          </a:solidFill>
          <a:ln/>
        </p:spPr>
      </p:sp>
      <p:sp>
        <p:nvSpPr>
          <p:cNvPr id="8" name="Shape 6"/>
          <p:cNvSpPr/>
          <p:nvPr/>
        </p:nvSpPr>
        <p:spPr>
          <a:xfrm>
            <a:off x="5513832" y="3296412"/>
            <a:ext cx="1133856" cy="1133856"/>
          </a:xfrm>
          <a:prstGeom prst="ellipse">
            <a:avLst/>
          </a:prstGeom>
          <a:solidFill>
            <a:srgbClr val="E8478B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5400000">
            <a:off x="5865327" y="3591215"/>
            <a:ext cx="481889" cy="544251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14600" y="44119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최종 결과 영상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48234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C7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바닥·벽·가구를 인식하고 그 위로 도망다니는 하츄핑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A1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840480" cy="3840480"/>
          </a:xfrm>
          <a:prstGeom prst="ellipse">
            <a:avLst/>
          </a:prstGeom>
          <a:solidFill>
            <a:srgbClr val="4A183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E847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148840"/>
            <a:ext cx="923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E9C7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Don’t think about </a:t>
            </a:r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7A5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</a:t>
            </a:r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E9C7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about </a:t>
            </a:r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C6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</a:t>
            </a:r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420624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스티브 잡스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525780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이 게임을 만든 이유(WHY)에 대한 대답은 —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47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846320"/>
            <a:ext cx="3291840" cy="3291840"/>
          </a:xfrm>
          <a:prstGeom prst="ellipse">
            <a:avLst/>
          </a:prstGeom>
          <a:solidFill>
            <a:srgbClr val="C42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188720"/>
            <a:ext cx="3291840" cy="3291840"/>
          </a:xfrm>
          <a:prstGeom prst="ellipse">
            <a:avLst/>
          </a:prstGeom>
          <a:solidFill>
            <a:srgbClr val="C42A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우리가 만든 이유입니다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697480" y="1691640"/>
            <a:ext cx="6812280" cy="3840480"/>
          </a:xfrm>
          <a:prstGeom prst="roundRect">
            <a:avLst>
              <a:gd name="adj" fmla="val 3333"/>
            </a:avLst>
          </a:prstGeom>
          <a:solidFill>
            <a:srgbClr val="120A10"/>
          </a:solidFill>
          <a:ln w="38100">
            <a:solidFill>
              <a:srgbClr val="FFC6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07208" y="1801368"/>
            <a:ext cx="6592824" cy="3621024"/>
          </a:xfrm>
          <a:prstGeom prst="roundRect">
            <a:avLst>
              <a:gd name="adj" fmla="val 2525"/>
            </a:avLst>
          </a:prstGeom>
          <a:solidFill>
            <a:srgbClr val="1B0F17"/>
          </a:solidFill>
          <a:ln/>
        </p:spPr>
      </p:sp>
      <p:sp>
        <p:nvSpPr>
          <p:cNvPr id="7" name="Shape 5"/>
          <p:cNvSpPr/>
          <p:nvPr/>
        </p:nvSpPr>
        <p:spPr>
          <a:xfrm>
            <a:off x="5536692" y="2999232"/>
            <a:ext cx="1133856" cy="1133856"/>
          </a:xfrm>
          <a:prstGeom prst="ellipse">
            <a:avLst/>
          </a:prstGeom>
          <a:solidFill>
            <a:srgbClr val="FFC64B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5888187" y="3294035"/>
            <a:ext cx="481889" cy="544251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97480" y="411480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딸아이가 노는 영상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아이가 즐거워하는 그 순간이, 이 모든 기술의 이유였습니다.  감사합니다 🩷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현실 공간에서 하츄핑 잡기</dc:title>
  <dc:subject>PptxGenJS Presentation</dc:subject>
  <dc:creator>하츄핑 AR 팀</dc:creator>
  <cp:lastModifiedBy>하츄핑 AR 팀</cp:lastModifiedBy>
  <cp:revision>1</cp:revision>
  <dcterms:created xsi:type="dcterms:W3CDTF">2026-08-27T01:04:19Z</dcterms:created>
  <dcterms:modified xsi:type="dcterms:W3CDTF">2026-08-27T01:04:19Z</dcterms:modified>
</cp:coreProperties>
</file>